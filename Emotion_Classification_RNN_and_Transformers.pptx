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9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68" r:id="rId11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66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50" b="0" i="0">
                <a:solidFill>
                  <a:srgbClr val="162B5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50" b="0" i="0">
                <a:solidFill>
                  <a:srgbClr val="162B5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50" b="0" i="0">
                <a:solidFill>
                  <a:srgbClr val="162B5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50" b="0" i="0">
                <a:solidFill>
                  <a:srgbClr val="162B5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14104" y="104144"/>
            <a:ext cx="13745210" cy="2101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50" b="0" i="0">
                <a:solidFill>
                  <a:srgbClr val="162B5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2700" y="6597650"/>
            <a:ext cx="7289800" cy="565150"/>
          </a:xfrm>
          <a:prstGeom prst="rect">
            <a:avLst/>
          </a:prstGeom>
        </p:spPr>
      </p:pic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5BA64E6A-0B5F-01FC-8580-15597C79CC77}"/>
              </a:ext>
            </a:extLst>
          </p:cNvPr>
          <p:cNvSpPr txBox="1"/>
          <p:nvPr/>
        </p:nvSpPr>
        <p:spPr>
          <a:xfrm>
            <a:off x="4546600" y="3553361"/>
            <a:ext cx="807720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8000" dirty="0">
                <a:solidFill>
                  <a:schemeClr val="tx2">
                    <a:lumMod val="75000"/>
                  </a:schemeClr>
                </a:solidFill>
              </a:rPr>
              <a:t>זיהוי רגשות בטקסט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475E79EA-B4D2-AC2D-4AAE-C5C87E62A9AC}"/>
              </a:ext>
            </a:extLst>
          </p:cNvPr>
          <p:cNvSpPr txBox="1"/>
          <p:nvPr/>
        </p:nvSpPr>
        <p:spPr>
          <a:xfrm>
            <a:off x="2298700" y="7696200"/>
            <a:ext cx="128778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dirty="0">
                <a:solidFill>
                  <a:schemeClr val="tx2">
                    <a:lumMod val="75000"/>
                  </a:schemeClr>
                </a:solidFill>
              </a:rPr>
              <a:t>שמרון בלום, שקד מזרחי ונועם </a:t>
            </a:r>
            <a:r>
              <a:rPr lang="he-IL" sz="2800" dirty="0" err="1">
                <a:solidFill>
                  <a:schemeClr val="tx2">
                    <a:lumMod val="75000"/>
                  </a:schemeClr>
                </a:solidFill>
              </a:rPr>
              <a:t>דיאמנט</a:t>
            </a:r>
            <a:endParaRPr lang="he-IL" sz="28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BBE469-4557-F1A1-980D-84CC25E21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5DD512F7-68C7-DAC5-2B0F-29DA368B5FF1}"/>
              </a:ext>
            </a:extLst>
          </p:cNvPr>
          <p:cNvSpPr txBox="1"/>
          <p:nvPr/>
        </p:nvSpPr>
        <p:spPr>
          <a:xfrm>
            <a:off x="4699000" y="381000"/>
            <a:ext cx="807720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8000" dirty="0">
                <a:solidFill>
                  <a:schemeClr val="tx2">
                    <a:lumMod val="75000"/>
                  </a:schemeClr>
                </a:solidFill>
              </a:rPr>
              <a:t>ניקוי הטקסטים</a:t>
            </a: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C3566728-9677-8D58-BDA2-C63B9B6B2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962" y="2495550"/>
            <a:ext cx="1248727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574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D88CC5-80D9-D8F0-F3F1-706725834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AFE3ED01-7EBB-AC79-6DEF-1AA98C09D8DE}"/>
              </a:ext>
            </a:extLst>
          </p:cNvPr>
          <p:cNvSpPr txBox="1"/>
          <p:nvPr/>
        </p:nvSpPr>
        <p:spPr>
          <a:xfrm>
            <a:off x="3022600" y="533400"/>
            <a:ext cx="1143000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8000" dirty="0" err="1">
                <a:solidFill>
                  <a:schemeClr val="tx2">
                    <a:lumMod val="75000"/>
                  </a:schemeClr>
                </a:solidFill>
              </a:rPr>
              <a:t>טוקניזציה</a:t>
            </a:r>
            <a:r>
              <a:rPr lang="he-IL" sz="8000" dirty="0">
                <a:solidFill>
                  <a:schemeClr val="tx2">
                    <a:lumMod val="75000"/>
                  </a:schemeClr>
                </a:solidFill>
              </a:rPr>
              <a:t> ו-</a:t>
            </a:r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> embedding</a:t>
            </a:r>
            <a:r>
              <a:rPr lang="he-IL" sz="8000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34F3EF9-2C04-C801-6384-66B118FA6F8E}"/>
              </a:ext>
            </a:extLst>
          </p:cNvPr>
          <p:cNvSpPr txBox="1"/>
          <p:nvPr/>
        </p:nvSpPr>
        <p:spPr>
          <a:xfrm>
            <a:off x="508000" y="2514600"/>
            <a:ext cx="163068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857250" indent="-857250" algn="r" rtl="1">
              <a:buFont typeface="Arial" panose="020B0604020202020204" pitchFamily="34" charset="0"/>
              <a:buChar char="•"/>
            </a:pPr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חלק א' – בניית מילון לכל מילה בדאטה באמצעות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embedding </a:t>
            </a:r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 מקובץ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glove</a:t>
            </a:r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 ברשת </a:t>
            </a:r>
            <a:r>
              <a:rPr lang="he-IL" sz="3200" dirty="0" err="1">
                <a:solidFill>
                  <a:schemeClr val="tx2">
                    <a:lumMod val="75000"/>
                  </a:schemeClr>
                </a:solidFill>
              </a:rPr>
              <a:t>במימד</a:t>
            </a:r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 100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1DBF73F9-5005-DB10-E202-F788DA33416A}"/>
              </a:ext>
            </a:extLst>
          </p:cNvPr>
          <p:cNvSpPr txBox="1"/>
          <p:nvPr/>
        </p:nvSpPr>
        <p:spPr>
          <a:xfrm>
            <a:off x="584200" y="3909536"/>
            <a:ext cx="163068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857250" indent="-857250" algn="r" rtl="1">
              <a:buFont typeface="Arial" panose="020B0604020202020204" pitchFamily="34" charset="0"/>
              <a:buChar char="•"/>
            </a:pPr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חלק ב' – שימוש </a:t>
            </a:r>
            <a:r>
              <a:rPr lang="he-IL" sz="3200" dirty="0" err="1">
                <a:solidFill>
                  <a:schemeClr val="tx2">
                    <a:lumMod val="75000"/>
                  </a:schemeClr>
                </a:solidFill>
              </a:rPr>
              <a:t>בטוקנייזר</a:t>
            </a:r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+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embedding</a:t>
            </a:r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המובנה של המודלים: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BERT,ELECTRA,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RoBERTa</a:t>
            </a:r>
            <a:endParaRPr lang="he-IL" sz="3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773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882E40-D6C4-C7A9-6E5E-DD863B4B3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263E3D9F-C0AC-1860-B836-94C1228FFDB7}"/>
              </a:ext>
            </a:extLst>
          </p:cNvPr>
          <p:cNvSpPr txBox="1"/>
          <p:nvPr/>
        </p:nvSpPr>
        <p:spPr>
          <a:xfrm>
            <a:off x="3022600" y="533400"/>
            <a:ext cx="1143000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8000" dirty="0">
                <a:solidFill>
                  <a:schemeClr val="tx2">
                    <a:lumMod val="75000"/>
                  </a:schemeClr>
                </a:solidFill>
              </a:rPr>
              <a:t>ארכיטקטורות מודלים חלק א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559A6721-A72D-D076-3569-040FB55D363D}"/>
              </a:ext>
            </a:extLst>
          </p:cNvPr>
          <p:cNvSpPr txBox="1"/>
          <p:nvPr/>
        </p:nvSpPr>
        <p:spPr>
          <a:xfrm>
            <a:off x="584200" y="3657600"/>
            <a:ext cx="16306800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0"/>
            <a:r>
              <a:rPr lang="en-US" sz="2800" dirty="0"/>
              <a:t>Embedding(with trainable flag)-&gt;Bidirectional(</a:t>
            </a:r>
            <a:r>
              <a:rPr lang="en-US" sz="2800" dirty="0">
                <a:solidFill>
                  <a:srgbClr val="C00000"/>
                </a:solidFill>
              </a:rPr>
              <a:t>LSTM/GRU</a:t>
            </a:r>
            <a:r>
              <a:rPr lang="en-US" sz="2800" dirty="0"/>
              <a:t>(</a:t>
            </a:r>
            <a:r>
              <a:rPr lang="en-US" sz="2800" dirty="0" err="1"/>
              <a:t>hidden_units</a:t>
            </a:r>
            <a:r>
              <a:rPr lang="en-US" sz="2800" dirty="0"/>
              <a:t>))-&gt; Dropout(</a:t>
            </a:r>
            <a:r>
              <a:rPr lang="en-US" sz="2800" dirty="0" err="1"/>
              <a:t>dropout_rate</a:t>
            </a:r>
            <a:r>
              <a:rPr lang="en-US" sz="2800" dirty="0"/>
              <a:t>)-&gt; FC(</a:t>
            </a:r>
            <a:r>
              <a:rPr lang="en-US" sz="2800" dirty="0" err="1"/>
              <a:t>hidden_units</a:t>
            </a:r>
            <a:r>
              <a:rPr lang="en-US" sz="2800" dirty="0"/>
              <a:t>/2, activation = '</a:t>
            </a:r>
            <a:r>
              <a:rPr lang="en-US" sz="2800" dirty="0" err="1"/>
              <a:t>relu</a:t>
            </a:r>
            <a:r>
              <a:rPr lang="en-US" sz="2800" dirty="0"/>
              <a:t>')-&gt; Dropout(</a:t>
            </a:r>
            <a:r>
              <a:rPr lang="en-US" sz="2800" dirty="0" err="1"/>
              <a:t>dropout_rate</a:t>
            </a:r>
            <a:r>
              <a:rPr lang="en-US" sz="2800" dirty="0"/>
              <a:t>/2)-&gt;</a:t>
            </a:r>
          </a:p>
          <a:p>
            <a:pPr rtl="0"/>
            <a:r>
              <a:rPr lang="en-US" sz="2800" dirty="0"/>
              <a:t>FC(</a:t>
            </a:r>
            <a:r>
              <a:rPr lang="en-US" sz="2800" dirty="0" err="1"/>
              <a:t>num_classes</a:t>
            </a:r>
            <a:r>
              <a:rPr lang="en-US" sz="2800" dirty="0"/>
              <a:t>, activation='</a:t>
            </a:r>
            <a:r>
              <a:rPr lang="en-US" sz="2800" dirty="0" err="1"/>
              <a:t>softmax</a:t>
            </a:r>
            <a:r>
              <a:rPr lang="en-US" sz="2800" dirty="0"/>
              <a:t>')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9FFC52C-4D31-E2B5-8EF1-963BB561E078}"/>
              </a:ext>
            </a:extLst>
          </p:cNvPr>
          <p:cNvSpPr txBox="1"/>
          <p:nvPr/>
        </p:nvSpPr>
        <p:spPr>
          <a:xfrm>
            <a:off x="520700" y="2758539"/>
            <a:ext cx="163068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ארכיטקטורה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2FA5A62D-255A-ED20-0C75-CE0DB663A085}"/>
              </a:ext>
            </a:extLst>
          </p:cNvPr>
          <p:cNvSpPr txBox="1"/>
          <p:nvPr/>
        </p:nvSpPr>
        <p:spPr>
          <a:xfrm>
            <a:off x="520700" y="5188407"/>
            <a:ext cx="163068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היפר פרמטרים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D03B0F2-4605-C0B5-7540-3BBA42FD7D3E}"/>
              </a:ext>
            </a:extLst>
          </p:cNvPr>
          <p:cNvSpPr txBox="1"/>
          <p:nvPr/>
        </p:nvSpPr>
        <p:spPr>
          <a:xfrm>
            <a:off x="520700" y="5918995"/>
            <a:ext cx="16306800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800" dirty="0" err="1"/>
              <a:t>ווקטורי</a:t>
            </a:r>
            <a:r>
              <a:rPr lang="he-IL" sz="2800" dirty="0"/>
              <a:t> ה-</a:t>
            </a:r>
            <a:r>
              <a:rPr lang="en-US" sz="2800" dirty="0"/>
              <a:t>embedding</a:t>
            </a:r>
            <a:r>
              <a:rPr lang="he-IL" sz="2800" dirty="0"/>
              <a:t> גם נלמדים (דגל בינארי)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800" dirty="0"/>
              <a:t>גודל המוצא של בלוק </a:t>
            </a:r>
            <a:r>
              <a:rPr lang="en-US" sz="2800" dirty="0"/>
              <a:t>LSTM/GRU</a:t>
            </a:r>
            <a:r>
              <a:rPr lang="he-IL" sz="2800" dirty="0"/>
              <a:t> שנקרא </a:t>
            </a:r>
            <a:r>
              <a:rPr lang="en-US" sz="2800" dirty="0" err="1"/>
              <a:t>hidden_units</a:t>
            </a:r>
            <a:endParaRPr lang="he-IL" sz="28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800" dirty="0" err="1"/>
              <a:t>dropout_rate</a:t>
            </a:r>
            <a:r>
              <a:rPr lang="he-IL" sz="2800" dirty="0"/>
              <a:t>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800" dirty="0" err="1"/>
              <a:t>lr</a:t>
            </a:r>
            <a:r>
              <a:rPr lang="he-IL" sz="2800" dirty="0"/>
              <a:t> עבור ה-</a:t>
            </a:r>
            <a:r>
              <a:rPr lang="en-US" sz="2800" dirty="0"/>
              <a:t>optimizer Adam</a:t>
            </a:r>
          </a:p>
        </p:txBody>
      </p:sp>
    </p:spTree>
    <p:extLst>
      <p:ext uri="{BB962C8B-B14F-4D97-AF65-F5344CB8AC3E}">
        <p14:creationId xmlns:p14="http://schemas.microsoft.com/office/powerpoint/2010/main" val="2805749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06DA2B-900D-264D-5626-4F085EA6A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23D39978-EF5A-35CC-001D-966AD7C43A96}"/>
              </a:ext>
            </a:extLst>
          </p:cNvPr>
          <p:cNvSpPr txBox="1"/>
          <p:nvPr/>
        </p:nvSpPr>
        <p:spPr>
          <a:xfrm>
            <a:off x="3022600" y="533400"/>
            <a:ext cx="1143000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8000" dirty="0">
                <a:solidFill>
                  <a:schemeClr val="tx2">
                    <a:lumMod val="75000"/>
                  </a:schemeClr>
                </a:solidFill>
              </a:rPr>
              <a:t>ארכיטקטורות מודלים חלק ב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96298D67-671B-337D-B0F9-D8D3F153B7C7}"/>
              </a:ext>
            </a:extLst>
          </p:cNvPr>
          <p:cNvSpPr txBox="1"/>
          <p:nvPr/>
        </p:nvSpPr>
        <p:spPr>
          <a:xfrm>
            <a:off x="584200" y="3657600"/>
            <a:ext cx="16306800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0"/>
            <a:r>
              <a:rPr lang="en-US" sz="2800" dirty="0">
                <a:solidFill>
                  <a:srgbClr val="C00000"/>
                </a:solidFill>
              </a:rPr>
              <a:t>Embedding-</a:t>
            </a:r>
            <a:r>
              <a:rPr lang="en-US" sz="2800" dirty="0"/>
              <a:t>&gt;</a:t>
            </a:r>
            <a:r>
              <a:rPr lang="en-US" sz="2800" dirty="0">
                <a:solidFill>
                  <a:srgbClr val="C00000"/>
                </a:solidFill>
              </a:rPr>
              <a:t>BERT/ELECTRA/</a:t>
            </a:r>
            <a:r>
              <a:rPr lang="en-US" sz="2800" dirty="0" err="1">
                <a:solidFill>
                  <a:srgbClr val="C00000"/>
                </a:solidFill>
              </a:rPr>
              <a:t>RoBERTa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CLS token-&gt; Dropout(</a:t>
            </a:r>
            <a:r>
              <a:rPr lang="en-US" sz="2800" dirty="0" err="1"/>
              <a:t>dropout_rate</a:t>
            </a:r>
            <a:r>
              <a:rPr lang="en-US" sz="2800" dirty="0"/>
              <a:t>)-&gt;</a:t>
            </a:r>
          </a:p>
          <a:p>
            <a:pPr rtl="0"/>
            <a:r>
              <a:rPr lang="en-US" sz="2800" dirty="0"/>
              <a:t>FC(128), activation = '</a:t>
            </a:r>
            <a:r>
              <a:rPr lang="en-US" sz="2800" dirty="0" err="1"/>
              <a:t>relu</a:t>
            </a:r>
            <a:r>
              <a:rPr lang="en-US" sz="2800" dirty="0"/>
              <a:t>')-&gt; Dropout(</a:t>
            </a:r>
            <a:r>
              <a:rPr lang="en-US" sz="2800" dirty="0" err="1"/>
              <a:t>dropout_rate</a:t>
            </a:r>
            <a:r>
              <a:rPr lang="en-US" sz="2800" dirty="0"/>
              <a:t>/2)-&gt;FC(</a:t>
            </a:r>
            <a:r>
              <a:rPr lang="en-US" sz="2800" dirty="0" err="1"/>
              <a:t>num_classes</a:t>
            </a:r>
            <a:r>
              <a:rPr lang="en-US" sz="2800" dirty="0"/>
              <a:t>) [logits]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1749CA28-43D1-71EA-6927-F8CC6EB8BE46}"/>
              </a:ext>
            </a:extLst>
          </p:cNvPr>
          <p:cNvSpPr txBox="1"/>
          <p:nvPr/>
        </p:nvSpPr>
        <p:spPr>
          <a:xfrm>
            <a:off x="520700" y="2758539"/>
            <a:ext cx="163068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ארכיטקטורה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ABDFA9D-C35A-4256-EA07-9F4ED000EB72}"/>
              </a:ext>
            </a:extLst>
          </p:cNvPr>
          <p:cNvSpPr txBox="1"/>
          <p:nvPr/>
        </p:nvSpPr>
        <p:spPr>
          <a:xfrm>
            <a:off x="520700" y="5188407"/>
            <a:ext cx="163068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היפר פרמטרים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87DEA48D-C655-DDA1-F2C8-7807BA327DF5}"/>
              </a:ext>
            </a:extLst>
          </p:cNvPr>
          <p:cNvSpPr txBox="1"/>
          <p:nvPr/>
        </p:nvSpPr>
        <p:spPr>
          <a:xfrm>
            <a:off x="520700" y="5918995"/>
            <a:ext cx="16306800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800" dirty="0" err="1"/>
              <a:t>batch_size</a:t>
            </a:r>
            <a:endParaRPr lang="he-IL" sz="28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800" dirty="0" err="1"/>
              <a:t>dropout_rate</a:t>
            </a:r>
            <a:r>
              <a:rPr lang="he-IL" sz="2800" dirty="0"/>
              <a:t>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800" dirty="0"/>
              <a:t>weight decay</a:t>
            </a:r>
            <a:r>
              <a:rPr lang="he-IL" sz="2800" dirty="0"/>
              <a:t> עבור ה-</a:t>
            </a:r>
            <a:r>
              <a:rPr lang="en-US" sz="2800" dirty="0"/>
              <a:t>optimizer </a:t>
            </a:r>
            <a:r>
              <a:rPr lang="en-US" sz="2800" dirty="0" err="1"/>
              <a:t>AdamW</a:t>
            </a:r>
            <a:endParaRPr lang="en-US" sz="28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800" dirty="0" err="1"/>
              <a:t>lr</a:t>
            </a:r>
            <a:r>
              <a:rPr lang="he-IL" sz="2800" dirty="0"/>
              <a:t> עבור ה-</a:t>
            </a:r>
            <a:r>
              <a:rPr lang="en-US" sz="2800" dirty="0"/>
              <a:t>optimizer </a:t>
            </a:r>
            <a:r>
              <a:rPr lang="en-US" sz="2800" dirty="0" err="1"/>
              <a:t>AdamW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4347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036B80-9118-57D3-CED3-AD86BE68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F41CB751-7E68-5023-E467-1E5CBA95953B}"/>
              </a:ext>
            </a:extLst>
          </p:cNvPr>
          <p:cNvSpPr txBox="1"/>
          <p:nvPr/>
        </p:nvSpPr>
        <p:spPr>
          <a:xfrm>
            <a:off x="3022600" y="533400"/>
            <a:ext cx="1143000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8000" dirty="0">
                <a:solidFill>
                  <a:schemeClr val="tx2">
                    <a:lumMod val="75000"/>
                  </a:schemeClr>
                </a:solidFill>
              </a:rPr>
              <a:t>שיטות דחיסה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99080EC-0258-EC0B-2F6A-0BB38CCE88AC}"/>
              </a:ext>
            </a:extLst>
          </p:cNvPr>
          <p:cNvSpPr txBox="1"/>
          <p:nvPr/>
        </p:nvSpPr>
        <p:spPr>
          <a:xfrm>
            <a:off x="520700" y="3003651"/>
            <a:ext cx="16306800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/>
              <a:t>בוצע גיזום של 30% פרמטרים הקטנים ביותר מבחינת נורמת</a:t>
            </a:r>
            <a:r>
              <a:rPr lang="en-US" sz="2800" dirty="0"/>
              <a:t>L1 </a:t>
            </a:r>
            <a:r>
              <a:rPr lang="he-IL" sz="2800" dirty="0"/>
              <a:t> מכלל המודולים הלינאריים ב</a:t>
            </a:r>
            <a:r>
              <a:rPr lang="he-IL" sz="2800" u="sng" dirty="0"/>
              <a:t>מודל שאומן מראש</a:t>
            </a:r>
            <a:r>
              <a:rPr lang="he-IL" sz="2800" dirty="0"/>
              <a:t> </a:t>
            </a:r>
          </a:p>
          <a:p>
            <a:pPr algn="r" rtl="1"/>
            <a:r>
              <a:rPr lang="he-IL" sz="2800" dirty="0"/>
              <a:t>     (לא כולל שכבת </a:t>
            </a:r>
            <a:r>
              <a:rPr lang="en-US" sz="2800" dirty="0"/>
              <a:t>embeddings</a:t>
            </a:r>
            <a:r>
              <a:rPr lang="he-IL" sz="2800" dirty="0"/>
              <a:t>) </a:t>
            </a:r>
          </a:p>
          <a:p>
            <a:pPr algn="r" rtl="1"/>
            <a:endParaRPr lang="he-IL" sz="2800" dirty="0"/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/>
              <a:t>לאחר הגיזום בוצע אימון של המודל מחדש ללא פרמטרים אלו (נשארו אפסים).</a:t>
            </a:r>
            <a:endParaRPr lang="en-US" sz="2800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56D7B3A-2C8C-A49C-8FF7-264C77C45734}"/>
              </a:ext>
            </a:extLst>
          </p:cNvPr>
          <p:cNvSpPr txBox="1"/>
          <p:nvPr/>
        </p:nvSpPr>
        <p:spPr>
          <a:xfrm>
            <a:off x="520700" y="2050003"/>
            <a:ext cx="163068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גיזום המודל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(pruning)</a:t>
            </a:r>
            <a:r>
              <a:rPr lang="en-US" sz="1800" dirty="0"/>
              <a:t> </a:t>
            </a:r>
            <a:endParaRPr lang="he-IL" sz="3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CD6E46D1-41A6-E093-98D6-162F731F9CFA}"/>
              </a:ext>
            </a:extLst>
          </p:cNvPr>
          <p:cNvSpPr txBox="1"/>
          <p:nvPr/>
        </p:nvSpPr>
        <p:spPr>
          <a:xfrm>
            <a:off x="520700" y="5188407"/>
            <a:ext cx="163068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200" dirty="0" err="1">
                <a:solidFill>
                  <a:schemeClr val="tx2">
                    <a:lumMod val="75000"/>
                  </a:schemeClr>
                </a:solidFill>
              </a:rPr>
              <a:t>קוונטיזציה</a:t>
            </a:r>
            <a:endParaRPr lang="he-IL" sz="3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C20A46C-2495-3E53-9846-05A6867D51A2}"/>
              </a:ext>
            </a:extLst>
          </p:cNvPr>
          <p:cNvSpPr txBox="1"/>
          <p:nvPr/>
        </p:nvSpPr>
        <p:spPr>
          <a:xfrm>
            <a:off x="520700" y="5918995"/>
            <a:ext cx="163068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800" dirty="0"/>
              <a:t>ביצוע </a:t>
            </a:r>
            <a:r>
              <a:rPr lang="he-IL" sz="2800" dirty="0" err="1"/>
              <a:t>קוונטיזציה</a:t>
            </a:r>
            <a:r>
              <a:rPr lang="he-IL" sz="2800" dirty="0"/>
              <a:t> של כלל המשקולות במודולים הלינאריים של המודל מ-</a:t>
            </a:r>
            <a:r>
              <a:rPr lang="en-US" sz="2800" dirty="0"/>
              <a:t>float32</a:t>
            </a:r>
            <a:r>
              <a:rPr lang="he-IL" sz="2800" dirty="0"/>
              <a:t> ל-</a:t>
            </a:r>
            <a:r>
              <a:rPr lang="en-US" sz="2800" dirty="0"/>
              <a:t>int8</a:t>
            </a:r>
          </a:p>
        </p:txBody>
      </p:sp>
    </p:spTree>
    <p:extLst>
      <p:ext uri="{BB962C8B-B14F-4D97-AF65-F5344CB8AC3E}">
        <p14:creationId xmlns:p14="http://schemas.microsoft.com/office/powerpoint/2010/main" val="287802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75DED6-CEDE-7A46-E8BC-984B7CE5F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1CF47CA7-52E1-8BF8-7F63-4BAB12682682}"/>
              </a:ext>
            </a:extLst>
          </p:cNvPr>
          <p:cNvSpPr txBox="1"/>
          <p:nvPr/>
        </p:nvSpPr>
        <p:spPr>
          <a:xfrm>
            <a:off x="3022600" y="533400"/>
            <a:ext cx="1143000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8000" dirty="0">
                <a:solidFill>
                  <a:schemeClr val="tx2">
                    <a:lumMod val="75000"/>
                  </a:schemeClr>
                </a:solidFill>
              </a:rPr>
              <a:t>מטריקות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BC354E9A-AE87-644F-FC9F-EA30B40F00EC}"/>
              </a:ext>
            </a:extLst>
          </p:cNvPr>
          <p:cNvSpPr txBox="1"/>
          <p:nvPr/>
        </p:nvSpPr>
        <p:spPr>
          <a:xfrm>
            <a:off x="584200" y="2514600"/>
            <a:ext cx="16306800" cy="52629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en-US" sz="2800" dirty="0"/>
              <a:t>- </a:t>
            </a:r>
            <a:r>
              <a:rPr lang="en-US" sz="2800" u="sng" dirty="0"/>
              <a:t>Accuracy</a:t>
            </a:r>
            <a:r>
              <a:rPr lang="en-US" sz="2800" dirty="0"/>
              <a:t> </a:t>
            </a:r>
            <a:r>
              <a:rPr lang="he-IL" sz="2800" dirty="0"/>
              <a:t> כמות חיזויים נכונים ביחס לכלל החיזויים (אין התחשבות במחלקות מיעוט)</a:t>
            </a:r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endParaRPr lang="he-IL" sz="2800" dirty="0"/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en-US" sz="2800" u="sng" dirty="0"/>
              <a:t>Recall</a:t>
            </a:r>
            <a:r>
              <a:rPr lang="he-IL" sz="2800" dirty="0"/>
              <a:t> - כמות חיזויים הנכונים של מחלקה ביחס לכמות המופעים האמיתית של המחלקה</a:t>
            </a:r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endParaRPr lang="he-IL" sz="28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800" u="sng" dirty="0"/>
              <a:t>Precision</a:t>
            </a:r>
            <a:r>
              <a:rPr lang="he-IL" sz="2800" dirty="0"/>
              <a:t> - כמות חיזויים נכונים של מחלקה ביחס לכמות המופעים שחזינו למחלקה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800" u="sng" dirty="0"/>
              <a:t>F1</a:t>
            </a:r>
            <a:r>
              <a:rPr lang="he-IL" sz="2800" dirty="0"/>
              <a:t> - ממוצע הרמוני בין </a:t>
            </a:r>
            <a:r>
              <a:rPr lang="en-US" sz="2800" dirty="0"/>
              <a:t>Precision</a:t>
            </a:r>
            <a:r>
              <a:rPr lang="he-IL" sz="2800" dirty="0"/>
              <a:t> ל-</a:t>
            </a:r>
            <a:r>
              <a:rPr lang="en-US" sz="2800" dirty="0"/>
              <a:t> Recall</a:t>
            </a:r>
            <a:r>
              <a:rPr lang="he-IL" sz="2800" dirty="0"/>
              <a:t>לכל מחלקה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800" u="sng" dirty="0"/>
              <a:t>AUC-PR</a:t>
            </a:r>
            <a:r>
              <a:rPr lang="he-IL" sz="2800" dirty="0"/>
              <a:t> - שטח מתחת לגרף של </a:t>
            </a:r>
            <a:r>
              <a:rPr lang="en-US" sz="2800" dirty="0"/>
              <a:t>Recall</a:t>
            </a:r>
            <a:r>
              <a:rPr lang="he-IL" sz="2800" dirty="0"/>
              <a:t> בציר </a:t>
            </a:r>
            <a:r>
              <a:rPr lang="en-US" sz="2800" dirty="0"/>
              <a:t>x</a:t>
            </a:r>
            <a:r>
              <a:rPr lang="he-IL" sz="2800" dirty="0"/>
              <a:t> ו- </a:t>
            </a:r>
            <a:r>
              <a:rPr lang="en-US" sz="2800" dirty="0"/>
              <a:t>Precision</a:t>
            </a:r>
            <a:r>
              <a:rPr lang="he-IL" sz="2800" dirty="0"/>
              <a:t> בציר </a:t>
            </a:r>
            <a:r>
              <a:rPr lang="en-US" sz="2800" dirty="0"/>
              <a:t>y</a:t>
            </a:r>
            <a:r>
              <a:rPr lang="he-IL" sz="2800" dirty="0"/>
              <a:t> כאשר מסתכלים על ה</a:t>
            </a:r>
            <a:r>
              <a:rPr lang="he-IL" sz="2800" u="sng" dirty="0"/>
              <a:t>הסתברות</a:t>
            </a:r>
            <a:r>
              <a:rPr lang="he-IL" sz="2800" dirty="0"/>
              <a:t> של המחלקה 		 הנכונה וקובעים ערך סף שאם הסתברות זו גדולה ממנו אזי חזינו נכון. מנסים ערכי סף הסתברותיים שונים 		 ועבורם מקבלים נקודות על הגרף שתחתיהם מחושב השטח.</a:t>
            </a:r>
            <a:endParaRPr lang="en-US" sz="2800" dirty="0"/>
          </a:p>
          <a:p>
            <a:pPr algn="r" rtl="1"/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3171238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80690B-2886-CD50-7688-2E4F1507A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440DF0CE-5AEA-F275-B7B5-E6F2D7153097}"/>
              </a:ext>
            </a:extLst>
          </p:cNvPr>
          <p:cNvSpPr txBox="1"/>
          <p:nvPr/>
        </p:nvSpPr>
        <p:spPr>
          <a:xfrm>
            <a:off x="3022600" y="533400"/>
            <a:ext cx="1143000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8000" dirty="0">
                <a:solidFill>
                  <a:schemeClr val="tx2">
                    <a:lumMod val="75000"/>
                  </a:schemeClr>
                </a:solidFill>
              </a:rPr>
              <a:t>תוצאות מודלים אופטימליים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4D89D785-C5C6-EDAC-F6A6-C8064B809C56}"/>
              </a:ext>
            </a:extLst>
          </p:cNvPr>
          <p:cNvSpPr txBox="1"/>
          <p:nvPr/>
        </p:nvSpPr>
        <p:spPr>
          <a:xfrm>
            <a:off x="736600" y="1809709"/>
            <a:ext cx="16306800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lvl="0" indent="-285750" algn="r" rtl="1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r" rtl="1"/>
            <a:endParaRPr lang="he-IL" sz="2800" dirty="0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428E6895-94DF-9198-D5BA-74A7248E1A85}"/>
              </a:ext>
            </a:extLst>
          </p:cNvPr>
          <p:cNvSpPr txBox="1"/>
          <p:nvPr/>
        </p:nvSpPr>
        <p:spPr>
          <a:xfrm>
            <a:off x="736600" y="2148364"/>
            <a:ext cx="163068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חלק א'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086E785-2B07-A3CF-5E49-F19262D6FC99}"/>
              </a:ext>
            </a:extLst>
          </p:cNvPr>
          <p:cNvSpPr txBox="1"/>
          <p:nvPr/>
        </p:nvSpPr>
        <p:spPr>
          <a:xfrm>
            <a:off x="736600" y="4900339"/>
            <a:ext cx="163068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חלק ב'</a:t>
            </a:r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15C892DD-3AB9-AE2F-E3ED-FACDD62A2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030777"/>
              </p:ext>
            </p:extLst>
          </p:nvPr>
        </p:nvGraphicFramePr>
        <p:xfrm>
          <a:off x="5393266" y="2912774"/>
          <a:ext cx="11650134" cy="15544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825067">
                  <a:extLst>
                    <a:ext uri="{9D8B030D-6E8A-4147-A177-3AD203B41FA5}">
                      <a16:colId xmlns:a16="http://schemas.microsoft.com/office/drawing/2014/main" val="93340267"/>
                    </a:ext>
                  </a:extLst>
                </a:gridCol>
                <a:gridCol w="5825067">
                  <a:extLst>
                    <a:ext uri="{9D8B030D-6E8A-4147-A177-3AD203B41FA5}">
                      <a16:colId xmlns:a16="http://schemas.microsoft.com/office/drawing/2014/main" val="906269655"/>
                    </a:ext>
                  </a:extLst>
                </a:gridCol>
              </a:tblGrid>
              <a:tr h="372052"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Model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b="1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  <a:endParaRPr lang="he-IL" sz="2800" b="1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699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GRU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0.925</a:t>
                      </a:r>
                      <a:endParaRPr lang="he-IL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307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LSTM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0.914</a:t>
                      </a:r>
                      <a:endParaRPr lang="he-IL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461271"/>
                  </a:ext>
                </a:extLst>
              </a:tr>
            </a:tbl>
          </a:graphicData>
        </a:graphic>
      </p:graphicFrame>
      <p:pic>
        <p:nvPicPr>
          <p:cNvPr id="6" name="תמונה 5">
            <a:extLst>
              <a:ext uri="{FF2B5EF4-FFF2-40B4-BE49-F238E27FC236}">
                <a16:creationId xmlns:a16="http://schemas.microsoft.com/office/drawing/2014/main" id="{852AF15C-D9AA-E8B4-FEA0-D643B538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327" y="5867400"/>
            <a:ext cx="14707073" cy="189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86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C026BE-D35A-8025-E0EB-1265ABCE6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572448C0-3B41-A5F6-3AED-1F8D3F2BD7BE}"/>
              </a:ext>
            </a:extLst>
          </p:cNvPr>
          <p:cNvSpPr txBox="1"/>
          <p:nvPr/>
        </p:nvSpPr>
        <p:spPr>
          <a:xfrm>
            <a:off x="3022600" y="533400"/>
            <a:ext cx="1143000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8000" dirty="0">
                <a:solidFill>
                  <a:schemeClr val="tx2">
                    <a:lumMod val="75000"/>
                  </a:schemeClr>
                </a:solidFill>
              </a:rPr>
              <a:t>קשיים עיקריים בפרויקט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B1929E99-39EC-A8B6-7C22-6FA37E4A98D5}"/>
              </a:ext>
            </a:extLst>
          </p:cNvPr>
          <p:cNvSpPr txBox="1"/>
          <p:nvPr/>
        </p:nvSpPr>
        <p:spPr>
          <a:xfrm>
            <a:off x="584200" y="2514600"/>
            <a:ext cx="16306800" cy="61247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800" u="sng" dirty="0"/>
              <a:t>בניית </a:t>
            </a:r>
            <a:r>
              <a:rPr lang="en-US" sz="2800" u="sng" dirty="0"/>
              <a:t>embedding</a:t>
            </a:r>
            <a:r>
              <a:rPr lang="he-IL" sz="2800" u="sng" dirty="0"/>
              <a:t> בחלק א'</a:t>
            </a:r>
            <a:r>
              <a:rPr lang="he-IL" sz="2800" dirty="0"/>
              <a:t> - כמות הדאטה שניתנה לא הייתה מספקת על מנת ליצור </a:t>
            </a:r>
            <a:r>
              <a:rPr lang="en-US" sz="2800" dirty="0"/>
              <a:t>embedding</a:t>
            </a:r>
            <a:r>
              <a:rPr lang="he-IL" sz="2800" dirty="0"/>
              <a:t> ולכן נעזרנו 					        בקובץ חיצוני שאומן לפי </a:t>
            </a:r>
            <a:r>
              <a:rPr lang="en-US" sz="2800" dirty="0"/>
              <a:t>glove</a:t>
            </a:r>
            <a:r>
              <a:rPr lang="he-IL" sz="2800" dirty="0"/>
              <a:t>  </a:t>
            </a:r>
          </a:p>
          <a:p>
            <a:pPr lvl="0" algn="r" rtl="1"/>
            <a:endParaRPr lang="he-IL" sz="2800" u="sng" dirty="0"/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he-IL" sz="2800" u="sng" dirty="0"/>
              <a:t>עבודה עם דאטה סט לא מאוזן</a:t>
            </a:r>
            <a:r>
              <a:rPr lang="he-IL" sz="2800" dirty="0"/>
              <a:t> – ניסינו לפתור זאת על ידי שימוש </a:t>
            </a:r>
            <a:r>
              <a:rPr lang="he-IL" sz="2800" dirty="0" err="1"/>
              <a:t>במשקול</a:t>
            </a:r>
            <a:r>
              <a:rPr lang="he-IL" sz="2800" dirty="0"/>
              <a:t> יחסי לשכיחות הדאטה בפונקציית ההפסד</a:t>
            </a:r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endParaRPr lang="he-IL" sz="2800" dirty="0"/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endParaRPr lang="he-IL" sz="28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800" u="sng" dirty="0"/>
              <a:t>סביבת הרצה עבור חלק ב'</a:t>
            </a:r>
            <a:r>
              <a:rPr lang="he-IL" sz="2800" dirty="0"/>
              <a:t> – סביבת ההרצה במחשבים הלוקאלים (</a:t>
            </a:r>
            <a:r>
              <a:rPr lang="en-US" sz="2800" dirty="0"/>
              <a:t>CPU</a:t>
            </a:r>
            <a:r>
              <a:rPr lang="he-IL" sz="2800" dirty="0"/>
              <a:t>) וגם שימוש בשירותי ענן חינמיים עם</a:t>
            </a:r>
            <a:r>
              <a:rPr lang="en-US" sz="2800" dirty="0"/>
              <a:t>GPU 				      </a:t>
            </a:r>
            <a:r>
              <a:rPr lang="he-IL" sz="2800" dirty="0"/>
              <a:t>לא התאימה לאימון המודלים. נעזרנו בגישה שיש לנועם למעבדות בבר אילן שמכילות 				      סביבה מתאימה (כדאי לשקול לאפשר זאת ע"י צוות הקורס עבור הסמסטרים הבאים)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800" u="sng" dirty="0"/>
              <a:t>הקפאת המודל הגדול שאומן מראש</a:t>
            </a:r>
            <a:r>
              <a:rPr lang="he-IL" sz="2800" dirty="0"/>
              <a:t> – ניסינו בתחילה כפי שנלמד בהרצאה להקפיא את המודל הגדול ורק לאמן את 					         המשקולות בראש המסווג אך התוצאות וההתכנסות היו הרבה פחות טובים ולכן 						כלל המשקולות במודל אומנו</a:t>
            </a:r>
            <a:endParaRPr lang="en-US" sz="2800" dirty="0"/>
          </a:p>
          <a:p>
            <a:pPr algn="r" rtl="1"/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3700589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530</Words>
  <Application>Microsoft Office PowerPoint</Application>
  <PresentationFormat>מותאם אישית</PresentationFormat>
  <Paragraphs>60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4" baseType="lpstr">
      <vt:lpstr>Arial</vt:lpstr>
      <vt:lpstr>Arial MT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Shim</dc:creator>
  <cp:lastModifiedBy>Shimron Blum</cp:lastModifiedBy>
  <cp:revision>2</cp:revision>
  <dcterms:created xsi:type="dcterms:W3CDTF">2026-01-30T10:56:24Z</dcterms:created>
  <dcterms:modified xsi:type="dcterms:W3CDTF">2026-01-30T12:50:57Z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2026-01-30T00:00:00Z</vt:filetime>
  </property>
  <property fmtid="{D5CDD505-2E9C-101B-9397-08002B2CF9AE}" pid="3" name="LastSaved">
    <vt:filetime>2026-01-30T00:00:00Z</vt:filetime>
  </property>
</Properties>
</file>